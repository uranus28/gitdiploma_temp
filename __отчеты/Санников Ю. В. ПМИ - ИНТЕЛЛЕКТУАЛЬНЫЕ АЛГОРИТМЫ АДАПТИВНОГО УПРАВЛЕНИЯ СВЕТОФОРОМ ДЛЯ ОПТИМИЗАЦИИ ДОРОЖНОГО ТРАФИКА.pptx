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88" r:id="rId7"/>
    <p:sldId id="302" r:id="rId8"/>
    <p:sldId id="309" r:id="rId9"/>
    <p:sldId id="294" r:id="rId10"/>
    <p:sldId id="307" r:id="rId11"/>
    <p:sldId id="262" r:id="rId12"/>
    <p:sldId id="303" r:id="rId13"/>
    <p:sldId id="295" r:id="rId14"/>
    <p:sldId id="263" r:id="rId15"/>
    <p:sldId id="264" r:id="rId16"/>
    <p:sldId id="308" r:id="rId17"/>
    <p:sldId id="287" r:id="rId18"/>
    <p:sldId id="306" r:id="rId19"/>
    <p:sldId id="310" r:id="rId20"/>
    <p:sldId id="292" r:id="rId21"/>
    <p:sldId id="28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83D"/>
    <a:srgbClr val="FDDBE3"/>
    <a:srgbClr val="FCC4D1"/>
    <a:srgbClr val="9108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3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AA4D4-D2F2-4570-916E-16FADF4E7957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63D94-03C3-45BD-9BD3-D0D27390A4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486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144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528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05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2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41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53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81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24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26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64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32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83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03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FEBD0-275C-4FD8-AEB4-456E96E1406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CA5B6-0CAA-4272-9FE0-56810227D1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09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downloader.disk.yandex.ru/preview/acdef5f48296901e99e3f6cb3fbbc95f684e75757d15c7fbb44162b9474df628/6626cbb5/ii7Tadahorx1ZQosHjH9R4OxOrfaLJ7sMgwlPGopPY74VVHzv1ZkPO5cv0xEeuMYuUQ7WCD3cIDGD9ihI2sJTw%3D%3D?uid=0&amp;filename=logo_red-white.png&amp;disposition=inline&amp;hash=&amp;limit=0&amp;content_type=image%2Fpng&amp;owner_uid=0&amp;tknv=v2&amp;size=1841x89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1930" y="-251060"/>
            <a:ext cx="2380587" cy="238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84;p1"/>
          <p:cNvSpPr txBox="1">
            <a:spLocks noGrp="1"/>
          </p:cNvSpPr>
          <p:nvPr>
            <p:ph type="ctrTitle"/>
          </p:nvPr>
        </p:nvSpPr>
        <p:spPr>
          <a:xfrm>
            <a:off x="1940173" y="1029510"/>
            <a:ext cx="8315880" cy="60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sz="3200" b="1" u="sng" dirty="0" smtClean="0">
                <a:latin typeface="Calibri"/>
                <a:ea typeface="Calibri"/>
                <a:cs typeface="Calibri"/>
                <a:sym typeface="Calibri"/>
              </a:rPr>
              <a:t>Научно исследовательская работа: </a:t>
            </a:r>
            <a:endParaRPr sz="3200" u="sng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398610" y="4791714"/>
            <a:ext cx="9162371" cy="1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 dirty="0"/>
              <a:t>Исполнитель: студент группы   </a:t>
            </a:r>
            <a:r>
              <a:rPr lang="ru-RU" sz="2200" dirty="0" smtClean="0"/>
              <a:t>ПМИ </a:t>
            </a:r>
            <a:r>
              <a:rPr lang="en-US" sz="2200" dirty="0"/>
              <a:t>2</a:t>
            </a:r>
            <a:r>
              <a:rPr lang="ru-RU" sz="2200" dirty="0" smtClean="0"/>
              <a:t> </a:t>
            </a:r>
            <a:r>
              <a:rPr lang="ru-RU" sz="2200" dirty="0"/>
              <a:t>курса </a:t>
            </a:r>
            <a:r>
              <a:rPr lang="ru-RU" sz="2200" dirty="0" smtClean="0"/>
              <a:t>физико-математического института  </a:t>
            </a:r>
            <a:r>
              <a:rPr lang="ru-RU" sz="2200" dirty="0"/>
              <a:t>Санников Юрий Владиславович</a:t>
            </a:r>
            <a:endParaRPr dirty="0"/>
          </a:p>
          <a:p>
            <a:pPr lvl="0" algn="l">
              <a:buClr>
                <a:schemeClr val="dk1"/>
              </a:buClr>
              <a:buSzPts val="2200"/>
            </a:pPr>
            <a:r>
              <a:rPr lang="ru-RU" sz="2200" dirty="0" smtClean="0"/>
              <a:t>Руководитель</a:t>
            </a:r>
            <a:r>
              <a:rPr lang="ru-RU" sz="2200" dirty="0"/>
              <a:t>: </a:t>
            </a:r>
            <a:r>
              <a:rPr lang="ru-RU" sz="2200" dirty="0" smtClean="0"/>
              <a:t>директор </a:t>
            </a:r>
            <a:r>
              <a:rPr lang="ru-RU" sz="2200" dirty="0"/>
              <a:t>института, доктор физико-математических наук, доцент Марина Александровна </a:t>
            </a:r>
            <a:r>
              <a:rPr lang="ru-RU" sz="2200" dirty="0" err="1"/>
              <a:t>Барулина</a:t>
            </a:r>
            <a:endParaRPr sz="2200" dirty="0"/>
          </a:p>
        </p:txBody>
      </p:sp>
      <p:sp>
        <p:nvSpPr>
          <p:cNvPr id="7" name="Google Shape;89;p1"/>
          <p:cNvSpPr/>
          <p:nvPr/>
        </p:nvSpPr>
        <p:spPr>
          <a:xfrm>
            <a:off x="9765792" y="6249618"/>
            <a:ext cx="19315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Пермь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868680" y="1815317"/>
            <a:ext cx="10634472" cy="24884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 smtClean="0">
                <a:latin typeface="+mn-lt"/>
              </a:rPr>
              <a:t>Интеллектуальные алгоритмы адаптивного управления светофором для оптимизации дорожного трафика</a:t>
            </a:r>
            <a:endParaRPr lang="ru-RU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924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94;p2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Цель</a:t>
            </a:r>
            <a:endParaRPr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5;p2"/>
          <p:cNvSpPr txBox="1">
            <a:spLocks/>
          </p:cNvSpPr>
          <p:nvPr/>
        </p:nvSpPr>
        <p:spPr>
          <a:xfrm>
            <a:off x="838200" y="1317628"/>
            <a:ext cx="10692384" cy="32543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59080" algn="just">
              <a:spcBef>
                <a:spcPts val="0"/>
              </a:spcBef>
              <a:buSzPct val="100000"/>
            </a:pPr>
            <a:r>
              <a:rPr lang="ru-RU" sz="4800" i="1" dirty="0" smtClean="0"/>
              <a:t>Цель научно исследовательской работы:</a:t>
            </a:r>
            <a:r>
              <a:rPr lang="ru-RU" sz="4800" dirty="0" smtClean="0"/>
              <a:t> </a:t>
            </a:r>
            <a:r>
              <a:rPr lang="ru-RU" sz="4800" dirty="0"/>
              <a:t>р</a:t>
            </a:r>
            <a:r>
              <a:rPr lang="ru-RU" sz="4800" dirty="0" smtClean="0"/>
              <a:t>азвертывание системы для </a:t>
            </a:r>
            <a:r>
              <a:rPr lang="ru-RU" sz="4800" dirty="0" err="1" smtClean="0"/>
              <a:t>валидации</a:t>
            </a:r>
            <a:r>
              <a:rPr lang="ru-RU" sz="4800" dirty="0" smtClean="0"/>
              <a:t> </a:t>
            </a:r>
            <a:r>
              <a:rPr lang="ru-RU" sz="4800" dirty="0" err="1" smtClean="0"/>
              <a:t>нейросетевых</a:t>
            </a:r>
            <a:r>
              <a:rPr lang="ru-RU" sz="4800" dirty="0" smtClean="0"/>
              <a:t> моделей и архитектур для адаптивного управления светофором с учетом автомобильного и пешеходного трафиков.</a:t>
            </a:r>
            <a:endParaRPr lang="ru-RU" sz="4800" dirty="0" smtClean="0"/>
          </a:p>
          <a:p>
            <a:pPr indent="-259080" algn="just">
              <a:spcBef>
                <a:spcPts val="0"/>
              </a:spcBef>
              <a:buSzPct val="100000"/>
            </a:pPr>
            <a:endParaRPr lang="ru-RU" sz="4800" dirty="0"/>
          </a:p>
          <a:p>
            <a:pPr indent="-259080" algn="just">
              <a:spcBef>
                <a:spcPts val="0"/>
              </a:spcBef>
              <a:buSzPct val="100000"/>
            </a:pPr>
            <a:endParaRPr lang="ru-RU" sz="4800" dirty="0" smtClean="0"/>
          </a:p>
          <a:p>
            <a:pPr indent="-64135" algn="just">
              <a:buClr>
                <a:schemeClr val="dk1"/>
              </a:buClr>
              <a:buSzPct val="100000"/>
              <a:buFont typeface="Arial" panose="020B0604020202020204" pitchFamily="34" charset="0"/>
              <a:buNone/>
            </a:pPr>
            <a:endParaRPr lang="ru-RU" dirty="0" smtClean="0"/>
          </a:p>
          <a:p>
            <a:pPr indent="-64135" algn="just">
              <a:buClr>
                <a:schemeClr val="dk1"/>
              </a:buClr>
              <a:buSzPct val="100000"/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7" name="Google Shape;96;p2"/>
          <p:cNvSpPr txBox="1"/>
          <p:nvPr/>
        </p:nvSpPr>
        <p:spPr>
          <a:xfrm>
            <a:off x="474654" y="6268720"/>
            <a:ext cx="11438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34584" y="5991721"/>
            <a:ext cx="6278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ru-RU" dirty="0" smtClean="0"/>
              <a:t>Сегментация - </a:t>
            </a:r>
            <a:r>
              <a:rPr lang="ru-RU" dirty="0" err="1" smtClean="0"/>
              <a:t>попиксельное</a:t>
            </a:r>
            <a:r>
              <a:rPr lang="ru-RU" dirty="0" smtClean="0"/>
              <a:t> </a:t>
            </a:r>
            <a:r>
              <a:rPr lang="ru-RU" dirty="0"/>
              <a:t>выделение </a:t>
            </a:r>
            <a:r>
              <a:rPr lang="ru-RU" dirty="0" smtClean="0"/>
              <a:t>объекта </a:t>
            </a:r>
            <a:r>
              <a:rPr lang="ru-RU" dirty="0"/>
              <a:t>одним </a:t>
            </a:r>
            <a:r>
              <a:rPr lang="ru-RU" dirty="0" smtClean="0"/>
              <a:t>цветом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167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9" name="Google Shape;101;p3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endParaRPr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2;p3"/>
          <p:cNvSpPr txBox="1">
            <a:spLocks/>
          </p:cNvSpPr>
          <p:nvPr/>
        </p:nvSpPr>
        <p:spPr>
          <a:xfrm>
            <a:off x="838200" y="1317628"/>
            <a:ext cx="10515600" cy="4772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Провести анализ существующих решений для адаптивного управления трафиком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Выбор </a:t>
            </a:r>
            <a:r>
              <a:rPr lang="ru-RU" sz="3200" dirty="0"/>
              <a:t>архитектуры (</a:t>
            </a:r>
            <a:r>
              <a:rPr lang="en-US" sz="3200" dirty="0" err="1"/>
              <a:t>BaseLine</a:t>
            </a:r>
            <a:r>
              <a:rPr lang="en-US" sz="3200" dirty="0" smtClean="0"/>
              <a:t>)</a:t>
            </a:r>
            <a:endParaRPr lang="ru-RU" sz="3200" dirty="0" smtClean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/>
              <a:t>Выбор </a:t>
            </a:r>
            <a:r>
              <a:rPr lang="ru-RU" sz="3200" dirty="0" err="1" smtClean="0"/>
              <a:t>датасета</a:t>
            </a:r>
            <a:endParaRPr lang="ru-RU" sz="32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Развертывание системы для анализа трафика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Результаты метрик</a:t>
            </a:r>
            <a:endParaRPr lang="en-US" sz="3200" dirty="0" smtClean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Выводы по проделанной работе (на основе задач)</a:t>
            </a:r>
            <a:endParaRPr lang="ru-RU" dirty="0"/>
          </a:p>
        </p:txBody>
      </p:sp>
      <p:sp>
        <p:nvSpPr>
          <p:cNvPr id="11" name="Google Shape;240;p17"/>
          <p:cNvSpPr txBox="1"/>
          <p:nvPr/>
        </p:nvSpPr>
        <p:spPr>
          <a:xfrm>
            <a:off x="474655" y="6268720"/>
            <a:ext cx="10523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791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08;p4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Актуальность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6" name="Google Shape;113;p4"/>
          <p:cNvSpPr/>
          <p:nvPr/>
        </p:nvSpPr>
        <p:spPr>
          <a:xfrm>
            <a:off x="1253356" y="5053630"/>
            <a:ext cx="1056158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2800" b="1" dirty="0" smtClean="0">
                <a:latin typeface="Calibri"/>
                <a:ea typeface="Calibri"/>
                <a:cs typeface="Calibri"/>
                <a:sym typeface="Calibri"/>
              </a:rPr>
              <a:t>Система рассмотренная в рамках текущей работы будет использоваться как один из блоков </a:t>
            </a:r>
            <a:r>
              <a:rPr lang="ru-RU" sz="2800" b="1" dirty="0" err="1" smtClean="0">
                <a:latin typeface="Calibri"/>
                <a:ea typeface="Calibri"/>
                <a:cs typeface="Calibri"/>
                <a:sym typeface="Calibri"/>
              </a:rPr>
              <a:t>валидации</a:t>
            </a:r>
            <a:r>
              <a:rPr lang="ru-RU" sz="2800" b="1" dirty="0" smtClean="0">
                <a:latin typeface="Calibri"/>
                <a:ea typeface="Calibri"/>
                <a:cs typeface="Calibri"/>
                <a:sym typeface="Calibri"/>
              </a:rPr>
              <a:t> модели.</a:t>
            </a:r>
            <a:endParaRPr lang="ru-RU" sz="2800" dirty="0" smtClea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1895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13;p4"/>
          <p:cNvSpPr/>
          <p:nvPr/>
        </p:nvSpPr>
        <p:spPr>
          <a:xfrm>
            <a:off x="1069431" y="2493152"/>
            <a:ext cx="1056158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2800" b="1" dirty="0" smtClean="0">
                <a:latin typeface="Calibri"/>
                <a:ea typeface="Calibri"/>
                <a:cs typeface="Calibri"/>
                <a:sym typeface="Calibri"/>
              </a:rPr>
              <a:t>Для кого</a:t>
            </a:r>
            <a:r>
              <a:rPr lang="ru-RU" sz="2800" dirty="0" smtClean="0">
                <a:latin typeface="Calibri"/>
                <a:ea typeface="Calibri"/>
                <a:cs typeface="Calibri"/>
                <a:sym typeface="Calibri"/>
              </a:rPr>
              <a:t>: участников дорожного движения и экономики </a:t>
            </a:r>
          </a:p>
          <a:p>
            <a:pPr lvl="0"/>
            <a:r>
              <a:rPr lang="ru-RU" sz="2800" b="1" dirty="0" smtClean="0">
                <a:latin typeface="Calibri"/>
                <a:ea typeface="Calibri"/>
                <a:cs typeface="Calibri"/>
                <a:sym typeface="Calibri"/>
              </a:rPr>
              <a:t>Зачем</a:t>
            </a:r>
            <a:r>
              <a:rPr lang="ru-RU" sz="2800" dirty="0" smtClean="0">
                <a:latin typeface="Calibri"/>
                <a:ea typeface="Calibri"/>
                <a:cs typeface="Calibri"/>
                <a:sym typeface="Calibri"/>
              </a:rPr>
              <a:t>: для повышения пропускной способности дорожного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78146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08;p4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Проблема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6" name="Google Shape;113;p4"/>
          <p:cNvSpPr/>
          <p:nvPr/>
        </p:nvSpPr>
        <p:spPr>
          <a:xfrm>
            <a:off x="474655" y="1448179"/>
            <a:ext cx="11011492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>
                <a:ea typeface="Calibri"/>
                <a:cs typeface="Calibri"/>
                <a:sym typeface="Calibri"/>
              </a:rPr>
              <a:t>В условиях современного города, пробки, особенно в час-пик, приводят к огромным экономическим, временным, психологическим и иным задержкам.</a:t>
            </a:r>
            <a:endParaRPr lang="ru-RU" sz="2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180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833133"/>
            <a:ext cx="9378786" cy="389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4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08;p4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Сравнение существующих решений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180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65177"/>
              </p:ext>
            </p:extLst>
          </p:nvPr>
        </p:nvGraphicFramePr>
        <p:xfrm>
          <a:off x="2486525" y="1539877"/>
          <a:ext cx="8329061" cy="4806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334">
                  <a:extLst>
                    <a:ext uri="{9D8B030D-6E8A-4147-A177-3AD203B41FA5}">
                      <a16:colId xmlns:a16="http://schemas.microsoft.com/office/drawing/2014/main" val="1541557136"/>
                    </a:ext>
                  </a:extLst>
                </a:gridCol>
                <a:gridCol w="1602197">
                  <a:extLst>
                    <a:ext uri="{9D8B030D-6E8A-4147-A177-3AD203B41FA5}">
                      <a16:colId xmlns:a16="http://schemas.microsoft.com/office/drawing/2014/main" val="489253021"/>
                    </a:ext>
                  </a:extLst>
                </a:gridCol>
                <a:gridCol w="2082265">
                  <a:extLst>
                    <a:ext uri="{9D8B030D-6E8A-4147-A177-3AD203B41FA5}">
                      <a16:colId xmlns:a16="http://schemas.microsoft.com/office/drawing/2014/main" val="3886267421"/>
                    </a:ext>
                  </a:extLst>
                </a:gridCol>
                <a:gridCol w="2082265">
                  <a:extLst>
                    <a:ext uri="{9D8B030D-6E8A-4147-A177-3AD203B41FA5}">
                      <a16:colId xmlns:a16="http://schemas.microsoft.com/office/drawing/2014/main" val="2875426806"/>
                    </a:ext>
                  </a:extLst>
                </a:gridCol>
              </a:tblGrid>
              <a:tr h="163116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Проект</a:t>
                      </a:r>
                      <a:endParaRPr lang="ru-RU" dirty="0"/>
                    </a:p>
                  </a:txBody>
                  <a:tcPr vert="vert270" anchor="ctr"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Использует компьютерное зрение</a:t>
                      </a:r>
                    </a:p>
                    <a:p>
                      <a:pPr algn="ctr"/>
                      <a:endParaRPr lang="ru-RU" dirty="0"/>
                    </a:p>
                  </a:txBody>
                  <a:tcPr vert="vert270" anchor="ctr"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Умеет собирать данные с видеокамер</a:t>
                      </a:r>
                      <a:endParaRPr lang="ru-RU" dirty="0"/>
                    </a:p>
                  </a:txBody>
                  <a:tcPr vert="vert270" anchor="ctr"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Умеет регулировать</a:t>
                      </a:r>
                      <a:r>
                        <a:rPr lang="ru-RU" baseline="0" dirty="0" smtClean="0"/>
                        <a:t> сигналами светофора</a:t>
                      </a:r>
                      <a:endParaRPr lang="ru-RU" dirty="0"/>
                    </a:p>
                  </a:txBody>
                  <a:tcPr vert="vert270" anchor="ctr">
                    <a:solidFill>
                      <a:srgbClr val="9108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619863"/>
                  </a:ext>
                </a:extLst>
              </a:tr>
              <a:tr h="359224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Адаптивный светофор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190426"/>
                  </a:ext>
                </a:extLst>
              </a:tr>
              <a:tr h="868631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Видеодетектор автотранспортных средств ИНФОПРО 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-/+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-/+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074177"/>
                  </a:ext>
                </a:extLst>
              </a:tr>
              <a:tr h="608042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Видеодетектор транспорта РТК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-/+</a:t>
                      </a:r>
                      <a:endParaRPr lang="ru-RU" dirty="0"/>
                    </a:p>
                  </a:txBody>
                  <a:tcPr>
                    <a:solidFill>
                      <a:srgbClr val="FDD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DD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</a:t>
                      </a:r>
                      <a:endParaRPr lang="ru-RU" dirty="0"/>
                    </a:p>
                  </a:txBody>
                  <a:tcPr>
                    <a:solidFill>
                      <a:srgbClr val="FDD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55955"/>
                  </a:ext>
                </a:extLst>
              </a:tr>
              <a:tr h="555055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НПО ИТС: Паук Трафик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-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748544"/>
                  </a:ext>
                </a:extLst>
              </a:tr>
              <a:tr h="700127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KI4LSA </a:t>
                      </a:r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10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+</a:t>
                      </a:r>
                      <a:endParaRPr lang="ru-RU" dirty="0"/>
                    </a:p>
                  </a:txBody>
                  <a:tcPr>
                    <a:solidFill>
                      <a:srgbClr val="FCC4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323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47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08;p4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Проект </a:t>
            </a:r>
            <a:r>
              <a:rPr lang="en-US" sz="4000" b="1" dirty="0">
                <a:solidFill>
                  <a:schemeClr val="lt1"/>
                </a:solidFill>
              </a:rPr>
              <a:t>KI4LSA</a:t>
            </a:r>
            <a:r>
              <a:rPr lang="ru-RU" sz="4000" b="1" dirty="0" smtClean="0">
                <a:solidFill>
                  <a:schemeClr val="bg1"/>
                </a:solidFill>
              </a:rPr>
              <a:t> 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180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74655" y="1539877"/>
            <a:ext cx="6378678" cy="367846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892449" y="5270722"/>
            <a:ext cx="2696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err="1"/>
              <a:t>Видеотдетектор</a:t>
            </a:r>
            <a:r>
              <a:rPr lang="ru-RU" dirty="0"/>
              <a:t> </a:t>
            </a:r>
            <a:r>
              <a:rPr lang="en-US" i="1" dirty="0"/>
              <a:t>KI4LSA</a:t>
            </a:r>
            <a:endParaRPr lang="ru-RU" dirty="0"/>
          </a:p>
        </p:txBody>
      </p:sp>
      <p:sp>
        <p:nvSpPr>
          <p:cNvPr id="9" name="Google Shape;119;p5"/>
          <p:cNvSpPr txBox="1">
            <a:spLocks/>
          </p:cNvSpPr>
          <p:nvPr/>
        </p:nvSpPr>
        <p:spPr>
          <a:xfrm>
            <a:off x="6853333" y="1539877"/>
            <a:ext cx="5081993" cy="50981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Проект </a:t>
            </a:r>
            <a:r>
              <a:rPr lang="ru-RU" dirty="0"/>
              <a:t>KI4LSA </a:t>
            </a:r>
            <a:r>
              <a:rPr lang="ru-RU" dirty="0" smtClean="0"/>
              <a:t>использовал </a:t>
            </a:r>
            <a:r>
              <a:rPr lang="ru-RU" dirty="0"/>
              <a:t>светофоры с камерами высокого разрешения и радарными датчиками, для фиксирования реальной дорожной ситуации, включая среднюю скорость автомобилей и время ожидания, для интеллектуального прогнозирующего переключения светофоров</a:t>
            </a:r>
          </a:p>
        </p:txBody>
      </p:sp>
    </p:spTree>
    <p:extLst>
      <p:ext uri="{BB962C8B-B14F-4D97-AF65-F5344CB8AC3E}">
        <p14:creationId xmlns:p14="http://schemas.microsoft.com/office/powerpoint/2010/main" val="284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18;p5"/>
          <p:cNvSpPr txBox="1">
            <a:spLocks noGrp="1"/>
          </p:cNvSpPr>
          <p:nvPr>
            <p:ph type="title"/>
          </p:nvPr>
        </p:nvSpPr>
        <p:spPr>
          <a:xfrm>
            <a:off x="787400" y="161929"/>
            <a:ext cx="1105167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3600" b="1" dirty="0" smtClean="0">
                <a:solidFill>
                  <a:schemeClr val="bg1"/>
                </a:solidFill>
              </a:rPr>
              <a:t>Выбор </a:t>
            </a:r>
            <a:r>
              <a:rPr lang="en-US" sz="3600" b="1" dirty="0" err="1" smtClean="0">
                <a:solidFill>
                  <a:schemeClr val="bg1"/>
                </a:solidFill>
              </a:rPr>
              <a:t>BaseLine</a:t>
            </a:r>
            <a:endParaRPr sz="36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6" name="Google Shape;119;p5"/>
          <p:cNvSpPr txBox="1">
            <a:spLocks/>
          </p:cNvSpPr>
          <p:nvPr/>
        </p:nvSpPr>
        <p:spPr>
          <a:xfrm>
            <a:off x="838200" y="1590342"/>
            <a:ext cx="10515600" cy="4772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457200" algn="just">
              <a:spcBef>
                <a:spcPts val="0"/>
              </a:spcBef>
              <a:buSzPts val="2800"/>
            </a:pPr>
            <a:endParaRPr lang="ru-RU" dirty="0"/>
          </a:p>
          <a:p>
            <a:pPr marL="635000" indent="-457200" algn="just">
              <a:spcBef>
                <a:spcPts val="0"/>
              </a:spcBef>
              <a:buSzPts val="2800"/>
            </a:pPr>
            <a:endParaRPr lang="ru-RU" dirty="0" smtClean="0"/>
          </a:p>
        </p:txBody>
      </p:sp>
      <p:sp>
        <p:nvSpPr>
          <p:cNvPr id="10" name="Google Shape;240;p17"/>
          <p:cNvSpPr txBox="1"/>
          <p:nvPr/>
        </p:nvSpPr>
        <p:spPr>
          <a:xfrm>
            <a:off x="474655" y="6268720"/>
            <a:ext cx="1061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1851153" y="1856622"/>
            <a:ext cx="8195934" cy="356881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341009" y="5322388"/>
            <a:ext cx="2436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/>
              <a:t>BaseLine</a:t>
            </a:r>
            <a:r>
              <a:rPr lang="en-US" i="1" dirty="0"/>
              <a:t> </a:t>
            </a:r>
            <a:r>
              <a:rPr lang="ru-RU" i="1" dirty="0"/>
              <a:t>архитектура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069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851153" y="1856622"/>
            <a:ext cx="8195934" cy="356881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08;p4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Архитектура модели для регулирования трафика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180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6807200" y="3779355"/>
            <a:ext cx="1717040" cy="12470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6807200" y="3683793"/>
            <a:ext cx="1554480" cy="14571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Группа 23"/>
          <p:cNvGrpSpPr/>
          <p:nvPr/>
        </p:nvGrpSpPr>
        <p:grpSpPr>
          <a:xfrm>
            <a:off x="6459997" y="2193614"/>
            <a:ext cx="2426833" cy="954107"/>
            <a:chOff x="6879727" y="2217796"/>
            <a:chExt cx="2426833" cy="954107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6879727" y="2225039"/>
              <a:ext cx="2426833" cy="919759"/>
            </a:xfrm>
            <a:prstGeom prst="rect">
              <a:avLst/>
            </a:prstGeom>
            <a:solidFill>
              <a:srgbClr val="F9A83D">
                <a:alpha val="50196"/>
              </a:srgbClr>
            </a:solidFill>
            <a:ln w="19050">
              <a:solidFill>
                <a:schemeClr val="accent2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6879727" y="2217796"/>
              <a:ext cx="2426833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sz="1400" i="1" dirty="0" smtClean="0">
                  <a:latin typeface="Times New Roman" panose="02020603050405020304" pitchFamily="18" charset="0"/>
                </a:rPr>
                <a:t>Алгоритм с моделью для предсказания дорожной ситуации и регулирования движения</a:t>
              </a:r>
              <a:endParaRPr lang="ru-RU" sz="1400" dirty="0"/>
            </a:p>
          </p:txBody>
        </p:sp>
      </p:grpSp>
      <p:cxnSp>
        <p:nvCxnSpPr>
          <p:cNvPr id="26" name="Прямая со стрелкой 25"/>
          <p:cNvCxnSpPr/>
          <p:nvPr/>
        </p:nvCxnSpPr>
        <p:spPr>
          <a:xfrm>
            <a:off x="7665720" y="3191290"/>
            <a:ext cx="0" cy="8015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72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08;p4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Архитектура </a:t>
            </a:r>
            <a:r>
              <a:rPr lang="en-US" sz="4000" b="1" dirty="0" smtClean="0">
                <a:solidFill>
                  <a:schemeClr val="bg1"/>
                </a:solidFill>
              </a:rPr>
              <a:t>Yolo v11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180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93592" y="5520862"/>
            <a:ext cx="3246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Схема архитектуры </a:t>
            </a:r>
            <a:r>
              <a:rPr lang="en-US" i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YOLO v11</a:t>
            </a:r>
            <a:r>
              <a:rPr lang="ru-RU" i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288757" y="1487492"/>
            <a:ext cx="7056650" cy="402417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8712836" y="2389257"/>
            <a:ext cx="2590165" cy="28194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9180800" y="5378521"/>
            <a:ext cx="1654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Bottleneck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слой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34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18;p5"/>
          <p:cNvSpPr txBox="1">
            <a:spLocks noGrp="1"/>
          </p:cNvSpPr>
          <p:nvPr>
            <p:ph type="title"/>
          </p:nvPr>
        </p:nvSpPr>
        <p:spPr>
          <a:xfrm>
            <a:off x="787400" y="161929"/>
            <a:ext cx="1105167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3600" b="1" dirty="0" smtClean="0">
                <a:solidFill>
                  <a:schemeClr val="bg1"/>
                </a:solidFill>
              </a:rPr>
              <a:t>Ограничения</a:t>
            </a:r>
            <a:endParaRPr sz="36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6" name="Google Shape;119;p5"/>
          <p:cNvSpPr txBox="1">
            <a:spLocks/>
          </p:cNvSpPr>
          <p:nvPr/>
        </p:nvSpPr>
        <p:spPr>
          <a:xfrm>
            <a:off x="838200" y="1590342"/>
            <a:ext cx="10515600" cy="4772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457200" algn="just">
              <a:spcBef>
                <a:spcPts val="0"/>
              </a:spcBef>
              <a:buSzPts val="2800"/>
            </a:pPr>
            <a:r>
              <a:rPr lang="ru-RU" dirty="0" smtClean="0"/>
              <a:t>На популярных сайтах с </a:t>
            </a:r>
            <a:r>
              <a:rPr lang="ru-RU" dirty="0" err="1" smtClean="0"/>
              <a:t>датасетами</a:t>
            </a:r>
            <a:r>
              <a:rPr lang="ru-RU" dirty="0" smtClean="0"/>
              <a:t>, не получилось найти подходящих размеченных данных</a:t>
            </a:r>
            <a:r>
              <a:rPr lang="en-US" dirty="0" smtClean="0"/>
              <a:t>;</a:t>
            </a:r>
            <a:endParaRPr lang="ru-RU" dirty="0"/>
          </a:p>
          <a:p>
            <a:pPr marL="635000" indent="-457200" algn="just">
              <a:spcBef>
                <a:spcPts val="0"/>
              </a:spcBef>
              <a:buSzPts val="2800"/>
            </a:pPr>
            <a:r>
              <a:rPr lang="ru-RU" dirty="0" smtClean="0"/>
              <a:t>Чтобы получить записи с муниципальных камер наблюдения необходимо обращаться в правоохранительные органы;</a:t>
            </a:r>
          </a:p>
        </p:txBody>
      </p:sp>
      <p:sp>
        <p:nvSpPr>
          <p:cNvPr id="10" name="Google Shape;240;p17"/>
          <p:cNvSpPr txBox="1"/>
          <p:nvPr/>
        </p:nvSpPr>
        <p:spPr>
          <a:xfrm>
            <a:off x="474655" y="6268720"/>
            <a:ext cx="1061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268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18;p5"/>
          <p:cNvSpPr txBox="1">
            <a:spLocks noGrp="1"/>
          </p:cNvSpPr>
          <p:nvPr>
            <p:ph type="title"/>
          </p:nvPr>
        </p:nvSpPr>
        <p:spPr>
          <a:xfrm>
            <a:off x="787400" y="161929"/>
            <a:ext cx="1105167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3600" b="1" dirty="0" smtClean="0">
                <a:solidFill>
                  <a:schemeClr val="bg1"/>
                </a:solidFill>
              </a:rPr>
              <a:t>Сервисы для аннотации </a:t>
            </a:r>
            <a:r>
              <a:rPr lang="ru-RU" sz="3600" b="1" dirty="0" err="1" smtClean="0">
                <a:solidFill>
                  <a:schemeClr val="bg1"/>
                </a:solidFill>
              </a:rPr>
              <a:t>датасета</a:t>
            </a:r>
            <a:endParaRPr sz="36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6" name="Google Shape;119;p5"/>
          <p:cNvSpPr txBox="1">
            <a:spLocks/>
          </p:cNvSpPr>
          <p:nvPr/>
        </p:nvSpPr>
        <p:spPr>
          <a:xfrm>
            <a:off x="838200" y="1590342"/>
            <a:ext cx="10515600" cy="4772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457200" algn="just">
              <a:spcBef>
                <a:spcPts val="0"/>
              </a:spcBef>
              <a:buSzPts val="2800"/>
            </a:pPr>
            <a:r>
              <a:rPr lang="en-US" dirty="0" err="1" smtClean="0"/>
              <a:t>LabelMe</a:t>
            </a:r>
            <a:endParaRPr lang="en-US" dirty="0" smtClean="0"/>
          </a:p>
          <a:p>
            <a:pPr marL="635000" lvl="0" indent="-457200" algn="just">
              <a:spcBef>
                <a:spcPts val="0"/>
              </a:spcBef>
              <a:buSzPts val="2800"/>
            </a:pPr>
            <a:r>
              <a:rPr lang="en-US" dirty="0"/>
              <a:t>VGG Image Annotator</a:t>
            </a:r>
            <a:r>
              <a:rPr lang="ru-RU" dirty="0"/>
              <a:t> (</a:t>
            </a:r>
            <a:r>
              <a:rPr lang="en-US" dirty="0" smtClean="0"/>
              <a:t>VIA)</a:t>
            </a:r>
          </a:p>
          <a:p>
            <a:pPr marL="635000" lvl="0" indent="-457200" algn="just">
              <a:spcBef>
                <a:spcPts val="0"/>
              </a:spcBef>
              <a:buSzPts val="2800"/>
            </a:pPr>
            <a:r>
              <a:rPr lang="en-US" dirty="0" err="1" smtClean="0"/>
              <a:t>SuperAnnotate</a:t>
            </a:r>
            <a:endParaRPr lang="ru-RU" dirty="0"/>
          </a:p>
          <a:p>
            <a:pPr marL="635000" lvl="0" indent="-457200" algn="just">
              <a:spcBef>
                <a:spcPts val="0"/>
              </a:spcBef>
              <a:buSzPts val="2800"/>
            </a:pPr>
            <a:r>
              <a:rPr lang="en-US" dirty="0" smtClean="0"/>
              <a:t>CVAT</a:t>
            </a:r>
            <a:endParaRPr lang="ru-RU" dirty="0"/>
          </a:p>
          <a:p>
            <a:pPr marL="635000" indent="-457200" algn="just">
              <a:spcBef>
                <a:spcPts val="0"/>
              </a:spcBef>
              <a:buSzPts val="2800"/>
            </a:pPr>
            <a:endParaRPr lang="ru-RU" dirty="0" smtClean="0"/>
          </a:p>
        </p:txBody>
      </p:sp>
      <p:sp>
        <p:nvSpPr>
          <p:cNvPr id="10" name="Google Shape;240;p17"/>
          <p:cNvSpPr txBox="1"/>
          <p:nvPr/>
        </p:nvSpPr>
        <p:spPr>
          <a:xfrm>
            <a:off x="474655" y="6268720"/>
            <a:ext cx="1061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590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18;p5"/>
          <p:cNvSpPr txBox="1">
            <a:spLocks noGrp="1"/>
          </p:cNvSpPr>
          <p:nvPr>
            <p:ph type="title"/>
          </p:nvPr>
        </p:nvSpPr>
        <p:spPr>
          <a:xfrm>
            <a:off x="787400" y="161929"/>
            <a:ext cx="1105167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3600" b="1" dirty="0" smtClean="0">
                <a:solidFill>
                  <a:schemeClr val="bg1"/>
                </a:solidFill>
              </a:rPr>
              <a:t>Выбор среды разработки</a:t>
            </a:r>
            <a:endParaRPr sz="36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6" name="Google Shape;119;p5"/>
          <p:cNvSpPr txBox="1">
            <a:spLocks/>
          </p:cNvSpPr>
          <p:nvPr/>
        </p:nvSpPr>
        <p:spPr>
          <a:xfrm>
            <a:off x="838200" y="1590342"/>
            <a:ext cx="10515600" cy="17098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0" indent="-457200" algn="just">
              <a:spcBef>
                <a:spcPts val="0"/>
              </a:spcBef>
              <a:buSzPts val="2800"/>
            </a:pPr>
            <a:r>
              <a:rPr lang="ru-RU" dirty="0" smtClean="0"/>
              <a:t>В качестве среды разработки использовалась </a:t>
            </a:r>
            <a:r>
              <a:rPr lang="en-US" dirty="0" smtClean="0"/>
              <a:t>Jupiter Lab</a:t>
            </a:r>
            <a:endParaRPr lang="ru-RU" dirty="0"/>
          </a:p>
        </p:txBody>
      </p:sp>
      <p:sp>
        <p:nvSpPr>
          <p:cNvPr id="10" name="Google Shape;240;p17"/>
          <p:cNvSpPr txBox="1"/>
          <p:nvPr/>
        </p:nvSpPr>
        <p:spPr>
          <a:xfrm>
            <a:off x="474655" y="6268720"/>
            <a:ext cx="1061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4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714" y="4931911"/>
            <a:ext cx="1444303" cy="1585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ile:Jupyter logo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20" y="4792717"/>
            <a:ext cx="1487280" cy="172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89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28;p6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Система для анализа трафика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3998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Eclipse SUMO™ | projects.eclipse.or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475" y="306639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990" y="2016171"/>
            <a:ext cx="5423414" cy="389373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301200" y="5909904"/>
            <a:ext cx="2021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симуляции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039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9318" y="329314"/>
            <a:ext cx="14401800" cy="933450"/>
          </a:xfrm>
          <a:prstGeom prst="rect">
            <a:avLst/>
          </a:prstGeom>
        </p:spPr>
      </p:pic>
      <p:sp>
        <p:nvSpPr>
          <p:cNvPr id="5" name="Google Shape;140;p7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3200" b="1" dirty="0" smtClean="0">
                <a:solidFill>
                  <a:schemeClr val="bg1"/>
                </a:solidFill>
              </a:rPr>
              <a:t>Методы для формирования дорожной сетки и трафика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6" name="Google Shape;142;p7"/>
          <p:cNvSpPr txBox="1">
            <a:spLocks/>
          </p:cNvSpPr>
          <p:nvPr/>
        </p:nvSpPr>
        <p:spPr>
          <a:xfrm>
            <a:off x="7741920" y="1482490"/>
            <a:ext cx="4670215" cy="6830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ru-RU" sz="1600" i="1" dirty="0" smtClean="0"/>
              <a:t> Используется для инициализации дорожной сетки</a:t>
            </a:r>
            <a:endParaRPr lang="ru-RU" sz="1600" i="1" dirty="0"/>
          </a:p>
        </p:txBody>
      </p:sp>
      <p:sp>
        <p:nvSpPr>
          <p:cNvPr id="8" name="Google Shape;240;p17"/>
          <p:cNvSpPr txBox="1"/>
          <p:nvPr/>
        </p:nvSpPr>
        <p:spPr>
          <a:xfrm>
            <a:off x="474655" y="6268720"/>
            <a:ext cx="15736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2;p7"/>
          <p:cNvSpPr txBox="1">
            <a:spLocks/>
          </p:cNvSpPr>
          <p:nvPr/>
        </p:nvSpPr>
        <p:spPr>
          <a:xfrm>
            <a:off x="7858760" y="2524885"/>
            <a:ext cx="4193824" cy="7059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ru-RU" sz="1800" i="1" dirty="0" smtClean="0"/>
              <a:t>Используется для инициализации поведения на дорогах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52" y="1446852"/>
            <a:ext cx="7514608" cy="7137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52" y="2468809"/>
            <a:ext cx="7514608" cy="109103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04" y="3740795"/>
            <a:ext cx="6996103" cy="2257306"/>
          </a:xfrm>
          <a:prstGeom prst="rect">
            <a:avLst/>
          </a:prstGeom>
        </p:spPr>
      </p:pic>
      <p:sp>
        <p:nvSpPr>
          <p:cNvPr id="13" name="Google Shape;142;p7"/>
          <p:cNvSpPr txBox="1">
            <a:spLocks/>
          </p:cNvSpPr>
          <p:nvPr/>
        </p:nvSpPr>
        <p:spPr>
          <a:xfrm>
            <a:off x="8056880" y="4016345"/>
            <a:ext cx="3630509" cy="19817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ru-RU" i="1" dirty="0" smtClean="0"/>
              <a:t>Используется для задания продолжительности сигналов светофора в начале симуляции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97818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9318" y="329314"/>
            <a:ext cx="14401800" cy="933450"/>
          </a:xfrm>
          <a:prstGeom prst="rect">
            <a:avLst/>
          </a:prstGeom>
        </p:spPr>
      </p:pic>
      <p:sp>
        <p:nvSpPr>
          <p:cNvPr id="5" name="Google Shape;140;p7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ru-RU" sz="4000" b="1" dirty="0" smtClean="0">
                <a:solidFill>
                  <a:schemeClr val="bg1"/>
                </a:solidFill>
              </a:rPr>
              <a:t>Методы для анализа трафика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6" name="Google Shape;142;p7"/>
          <p:cNvSpPr txBox="1">
            <a:spLocks/>
          </p:cNvSpPr>
          <p:nvPr/>
        </p:nvSpPr>
        <p:spPr>
          <a:xfrm>
            <a:off x="9163565" y="1430149"/>
            <a:ext cx="2330784" cy="13408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ru-RU" i="1" dirty="0" smtClean="0"/>
              <a:t> используется для подсчета пропускной способности развязки</a:t>
            </a:r>
            <a:endParaRPr lang="ru-RU" i="1" dirty="0"/>
          </a:p>
        </p:txBody>
      </p:sp>
      <p:sp>
        <p:nvSpPr>
          <p:cNvPr id="8" name="Google Shape;240;p17"/>
          <p:cNvSpPr txBox="1"/>
          <p:nvPr/>
        </p:nvSpPr>
        <p:spPr>
          <a:xfrm>
            <a:off x="474655" y="6268720"/>
            <a:ext cx="15736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55" y="1487492"/>
            <a:ext cx="7949008" cy="128352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4" y="3463106"/>
            <a:ext cx="7589789" cy="1764720"/>
          </a:xfrm>
          <a:prstGeom prst="rect">
            <a:avLst/>
          </a:prstGeom>
        </p:spPr>
      </p:pic>
      <p:sp>
        <p:nvSpPr>
          <p:cNvPr id="11" name="Google Shape;142;p7"/>
          <p:cNvSpPr txBox="1">
            <a:spLocks/>
          </p:cNvSpPr>
          <p:nvPr/>
        </p:nvSpPr>
        <p:spPr>
          <a:xfrm>
            <a:off x="9163565" y="3675031"/>
            <a:ext cx="2330784" cy="13408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ru-RU" i="1" dirty="0" smtClean="0"/>
              <a:t> используется для подсчета средней пропускной способности развязки в симуляции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32569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600"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Результаты </a:t>
            </a: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Метрик на симуляции обычного светофора</a:t>
            </a:r>
            <a:endParaRPr lang="ru-RU" sz="3200" b="1" dirty="0" smtClean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4364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75" y="1686743"/>
            <a:ext cx="5474126" cy="410559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314" y="1709741"/>
            <a:ext cx="5217702" cy="39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600"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Результаты </a:t>
            </a: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Метрик на симуляции обычного светофора</a:t>
            </a:r>
            <a:endParaRPr lang="ru-RU" sz="3200" b="1" dirty="0" smtClean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4364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115" y="1683541"/>
            <a:ext cx="5852172" cy="4389129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512256" y="5976331"/>
            <a:ext cx="90658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i="1" dirty="0"/>
              <a:t>График демонстрирующий среднее количество проехавших через светофор машин для различной продолжительности фазы светофора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898640" y="1683541"/>
            <a:ext cx="22990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i="1" dirty="0" smtClean="0"/>
              <a:t>Кол-во машин в симуляции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6462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5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3600"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Демонстрация работы  Симуляции</a:t>
            </a:r>
            <a:endParaRPr lang="ru-RU" sz="3200" b="1" dirty="0" smtClean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40;p17"/>
          <p:cNvSpPr txBox="1"/>
          <p:nvPr/>
        </p:nvSpPr>
        <p:spPr>
          <a:xfrm>
            <a:off x="474655" y="6268720"/>
            <a:ext cx="14364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демонстрация SUMO 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30954" y="1317627"/>
            <a:ext cx="8798565" cy="4949193"/>
          </a:xfrm>
          <a:prstGeom prst="rect">
            <a:avLst/>
          </a:prstGeom>
        </p:spPr>
      </p:pic>
      <p:sp>
        <p:nvSpPr>
          <p:cNvPr id="8" name="Google Shape;142;p7"/>
          <p:cNvSpPr txBox="1">
            <a:spLocks/>
          </p:cNvSpPr>
          <p:nvPr/>
        </p:nvSpPr>
        <p:spPr>
          <a:xfrm>
            <a:off x="10094873" y="2987040"/>
            <a:ext cx="2212276" cy="188099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ru-RU" i="1" dirty="0" smtClean="0"/>
              <a:t>Демонстрация для 10 машин в системе, переключение сигналов раз в 20 секунд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34398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238" name="Google Shape;238;p17"/>
          <p:cNvSpPr txBox="1"/>
          <p:nvPr/>
        </p:nvSpPr>
        <p:spPr>
          <a:xfrm>
            <a:off x="787401" y="1706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 sz="44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787401" y="1362165"/>
            <a:ext cx="10446889" cy="437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>
              <a:buSzPts val="2800"/>
            </a:pPr>
            <a:r>
              <a:rPr lang="ru-RU" dirty="0"/>
              <a:t>В результате выполнения научно исследовательской работы был изучен материал, необходимый для </a:t>
            </a:r>
            <a:r>
              <a:rPr lang="ru-RU" dirty="0" smtClean="0"/>
              <a:t>развертывани</a:t>
            </a:r>
            <a:r>
              <a:rPr lang="ru-RU" dirty="0"/>
              <a:t>я</a:t>
            </a:r>
            <a:r>
              <a:rPr lang="ru-RU" dirty="0" smtClean="0"/>
              <a:t> системы </a:t>
            </a:r>
            <a:r>
              <a:rPr lang="ru-RU" dirty="0" err="1" smtClean="0"/>
              <a:t>валидации</a:t>
            </a:r>
            <a:r>
              <a:rPr lang="ru-RU" dirty="0" smtClean="0"/>
              <a:t> </a:t>
            </a:r>
            <a:r>
              <a:rPr lang="ru-RU" dirty="0" err="1"/>
              <a:t>нейросетевых</a:t>
            </a:r>
            <a:r>
              <a:rPr lang="ru-RU" dirty="0"/>
              <a:t> моделей и архитектур для адаптивного управления светофором с учетом автомобильного и пешеходного </a:t>
            </a:r>
            <a:r>
              <a:rPr lang="ru-RU" dirty="0" smtClean="0"/>
              <a:t>трафиков</a:t>
            </a:r>
          </a:p>
          <a:p>
            <a:pPr lvl="0">
              <a:buSzPts val="2800"/>
            </a:pPr>
            <a:r>
              <a:rPr lang="ru-RU" dirty="0" smtClean="0"/>
              <a:t>Выделены ограничения </a:t>
            </a:r>
            <a:r>
              <a:rPr lang="ru-RU" dirty="0" err="1" smtClean="0"/>
              <a:t>д</a:t>
            </a:r>
            <a:r>
              <a:rPr lang="ru-RU" dirty="0" err="1" smtClean="0"/>
              <a:t>атасетов</a:t>
            </a:r>
            <a:endParaRPr lang="ru-RU" dirty="0" smtClean="0"/>
          </a:p>
          <a:p>
            <a:pPr lvl="0">
              <a:buSzPts val="2800"/>
            </a:pPr>
            <a:r>
              <a:rPr lang="ru-RU" dirty="0" smtClean="0"/>
              <a:t>Выбран </a:t>
            </a:r>
            <a:r>
              <a:rPr lang="en-US" dirty="0" err="1" smtClean="0"/>
              <a:t>BaseLine</a:t>
            </a:r>
            <a:r>
              <a:rPr lang="en-US" dirty="0" smtClean="0"/>
              <a:t> </a:t>
            </a:r>
            <a:r>
              <a:rPr lang="ru-RU" dirty="0" smtClean="0"/>
              <a:t>для Дипломной работы</a:t>
            </a:r>
            <a:endParaRPr lang="ru-RU" dirty="0"/>
          </a:p>
          <a:p>
            <a:pPr>
              <a:buSzPts val="2800"/>
            </a:pPr>
            <a:r>
              <a:rPr lang="ru-RU" dirty="0"/>
              <a:t>Развернута система для анализа </a:t>
            </a:r>
            <a:r>
              <a:rPr lang="ru-RU" dirty="0" smtClean="0"/>
              <a:t>трафика</a:t>
            </a:r>
            <a:endParaRPr lang="ru-RU" dirty="0" smtClean="0"/>
          </a:p>
          <a:p>
            <a:pPr lvl="0">
              <a:buSzPts val="2800"/>
            </a:pPr>
            <a:r>
              <a:rPr lang="ru-RU" dirty="0" smtClean="0"/>
              <a:t>Проведены тестовые запуски системы с разными параметрами и представлены результаты симуляций</a:t>
            </a:r>
            <a:endParaRPr lang="en-US" dirty="0" smtClean="0"/>
          </a:p>
        </p:txBody>
      </p:sp>
      <p:sp>
        <p:nvSpPr>
          <p:cNvPr id="6" name="Google Shape;240;p17"/>
          <p:cNvSpPr txBox="1"/>
          <p:nvPr/>
        </p:nvSpPr>
        <p:spPr>
          <a:xfrm>
            <a:off x="474655" y="6268720"/>
            <a:ext cx="13175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95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/>
        </p:nvSpPr>
        <p:spPr>
          <a:xfrm>
            <a:off x="3243708" y="2766217"/>
            <a:ext cx="69152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-728663"/>
            <a:ext cx="1209675" cy="83153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8937" y="38100"/>
            <a:ext cx="2085975" cy="1485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12" y="922497"/>
            <a:ext cx="3084195" cy="76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7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6694</TotalTime>
  <Words>492</Words>
  <Application>Microsoft Office PowerPoint</Application>
  <PresentationFormat>Широкоэкранный</PresentationFormat>
  <Paragraphs>109</Paragraphs>
  <Slides>21</Slides>
  <Notes>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Научно исследовательская работа: </vt:lpstr>
      <vt:lpstr>Цель</vt:lpstr>
      <vt:lpstr>Задачи</vt:lpstr>
      <vt:lpstr>Актуальность</vt:lpstr>
      <vt:lpstr>Проблема</vt:lpstr>
      <vt:lpstr>Сравнение существующих решений</vt:lpstr>
      <vt:lpstr>Проект KI4LSA </vt:lpstr>
      <vt:lpstr>Выбор BaseLine</vt:lpstr>
      <vt:lpstr>Архитектура модели для регулирования трафика</vt:lpstr>
      <vt:lpstr>Архитектура Yolo v11</vt:lpstr>
      <vt:lpstr>Ограничения</vt:lpstr>
      <vt:lpstr>Сервисы для аннотации датасета</vt:lpstr>
      <vt:lpstr>Выбор среды разработки</vt:lpstr>
      <vt:lpstr>Система для анализа трафика</vt:lpstr>
      <vt:lpstr>Методы для формирования дорожной сетки и трафика</vt:lpstr>
      <vt:lpstr>Методы для анализа трафика</vt:lpstr>
      <vt:lpstr>Результаты Метрик на симуляции обычного светофора</vt:lpstr>
      <vt:lpstr>Результаты Метрик на симуляции обычного светофора</vt:lpstr>
      <vt:lpstr>Демонстрация работы  Симуляции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Yura Sannikov</dc:creator>
  <cp:lastModifiedBy>Yura Sannikov</cp:lastModifiedBy>
  <cp:revision>197</cp:revision>
  <dcterms:created xsi:type="dcterms:W3CDTF">2024-05-26T17:30:36Z</dcterms:created>
  <dcterms:modified xsi:type="dcterms:W3CDTF">2026-04-28T06:49:16Z</dcterms:modified>
</cp:coreProperties>
</file>